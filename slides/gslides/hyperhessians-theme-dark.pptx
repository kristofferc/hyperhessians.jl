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E8ECF2"/>
                </a:solidFill>
              </a:rPr>
              <a:t>From dual numbers to fast Hessians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9AA4B4"/>
                </a:solidFill>
              </a:rPr>
              <a:t>HyperHessians.jl — theme starter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E8ECF2"/>
                </a:solidFill>
              </a:rPr>
              <a:t>Section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E8ECF2"/>
                </a:solidFill>
              </a:rPr>
              <a:t>Body text in ink; keep blue as the only emphasis color.</a:t>
            </a:r>
          </a:p>
          <a:p>
            <a:r>
              <a:rPr sz="2000">
                <a:solidFill>
                  <a:srgbClr val="E8ECF2"/>
                </a:solidFill>
              </a:rPr>
              <a:t>Orange and purple are data-series colors, never emphasis.</a:t>
            </a:r>
          </a:p>
          <a:p>
            <a:r>
              <a:rPr sz="2000">
                <a:solidFill>
                  <a:srgbClr val="E8ECF2"/>
                </a:solidFill>
              </a:rPr>
              <a:t>Muted gray for kickers, captions and de-emphasis.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8ECF2"/>
                </a:solidFill>
              </a:rPr>
              <a:t>Theme colors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383280" cy="1371600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443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A4B4"/>
                </a:solidFill>
              </a:rPr>
              <a:t>Accent / blue — #3987E5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554480"/>
            <a:ext cx="3383280" cy="1371600"/>
          </a:xfrm>
          <a:prstGeom prst="rect">
            <a:avLst/>
          </a:prstGeom>
          <a:solidFill>
            <a:srgbClr val="D95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29443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A4B4"/>
                </a:solidFill>
              </a:rPr>
              <a:t>Series 2 / orange — #D95926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554480"/>
            <a:ext cx="3383280" cy="1371600"/>
          </a:xfrm>
          <a:prstGeom prst="rect">
            <a:avLst/>
          </a:prstGeom>
          <a:solidFill>
            <a:srgbClr val="908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294436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A4B4"/>
                </a:solidFill>
              </a:rPr>
              <a:t>Series 3 / purple — #9085E9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40"/>
            <a:ext cx="3383280" cy="1371600"/>
          </a:xfrm>
          <a:prstGeom prst="rect">
            <a:avLst/>
          </a:prstGeom>
          <a:solidFill>
            <a:srgbClr val="E6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13892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A4B4"/>
                </a:solidFill>
              </a:rPr>
              <a:t>Bad / red — #E66767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749040"/>
            <a:ext cx="3383280" cy="1371600"/>
          </a:xfrm>
          <a:prstGeom prst="rect">
            <a:avLst/>
          </a:prstGeom>
          <a:solidFill>
            <a:srgbClr val="6D7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513892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A4B4"/>
                </a:solidFill>
              </a:rPr>
              <a:t>Faint — #6D7889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749040"/>
            <a:ext cx="3383280" cy="1371600"/>
          </a:xfrm>
          <a:prstGeom prst="rect">
            <a:avLst/>
          </a:prstGeom>
          <a:solidFill>
            <a:srgbClr val="2B3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5138928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A4B4"/>
                </a:solidFill>
              </a:rPr>
              <a:t>Line / border — #2B3442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AA4B4"/>
                </a:solidFill>
              </a:rPr>
              <a:t>Background #14181E · panel #1B212B · text #E8ECF2 · muted #9AA4B4 · code background #10151D · link #6AA7EE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yperHessians Dark">
      <a:dk1>
        <a:srgbClr val="E8ECF2"/>
      </a:dk1>
      <a:lt1>
        <a:srgbClr val="14181E"/>
      </a:lt1>
      <a:dk2>
        <a:srgbClr val="9AA4B4"/>
      </a:dk2>
      <a:lt2>
        <a:srgbClr val="1B212B"/>
      </a:lt2>
      <a:accent1>
        <a:srgbClr val="3987E5"/>
      </a:accent1>
      <a:accent2>
        <a:srgbClr val="D95926"/>
      </a:accent2>
      <a:accent3>
        <a:srgbClr val="9085E9"/>
      </a:accent3>
      <a:accent4>
        <a:srgbClr val="E66767"/>
      </a:accent4>
      <a:accent5>
        <a:srgbClr val="6D7889"/>
      </a:accent5>
      <a:accent6>
        <a:srgbClr val="2B3442"/>
      </a:accent6>
      <a:hlink>
        <a:srgbClr val="6AA7EE"/>
      </a:hlink>
      <a:folHlink>
        <a:srgbClr val="9085E9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