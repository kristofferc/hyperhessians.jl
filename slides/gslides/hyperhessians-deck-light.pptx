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1168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5AA6"/>
                </a:solidFill>
                <a:latin typeface="Inter"/>
              </a:rPr>
              <a:t>HYPERHESSIANS.JL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6372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1A2230"/>
                </a:solidFill>
                <a:latin typeface="Inter"/>
              </a:rPr>
              <a:t>From dual numbers
to fast Hessians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A6577"/>
                </a:solidFill>
                <a:latin typeface="Inter"/>
              </a:rPr>
              <a:t>Forward mode AD specialized for second order derivatives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9204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A6577"/>
                </a:solidFill>
                <a:latin typeface="Roboto Mono"/>
              </a:rPr>
              <a:t> Kristoffer Carlsson    JuliaHub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The usual way: finite differences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39496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2230"/>
                </a:solidFill>
                <a:latin typeface="Inter"/>
              </a:rPr>
              <a:t>Taylor, with a step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2230"/>
                </a:solidFill>
                <a:latin typeface="Georgia"/>
              </a:rPr>
              <a:t>f(x₀ + h) = f(x₀) + h f′(x₀) + (h²/2) f″(x₀) + 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2230"/>
                </a:solidFill>
                <a:latin typeface="Georgia"/>
              </a:rPr>
              <a:t>f′(x₀) = ( f(x₀+h) − f(x₀) ) / h  +  𝒪(h)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450" b="1" i="0">
                <a:solidFill>
                  <a:srgbClr val="1A2230"/>
                </a:solidFill>
                <a:latin typeface="Inter"/>
              </a:rPr>
              <a:t>Big h</a:t>
            </a:r>
            <a:r>
              <a:rPr sz="1450" b="0" i="0">
                <a:solidFill>
                  <a:srgbClr val="1A2230"/>
                </a:solidFill>
                <a:latin typeface="Inter"/>
              </a:rPr>
              <a:t>: the dropped Taylor terms show up as error.</a:t>
            </a:r>
          </a:p>
          <a:p>
            <a:pPr>
              <a:spcAft>
                <a:spcPts val="500"/>
              </a:spcAft>
            </a:pPr>
            <a:r>
              <a:rPr sz="14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450" b="1" i="0">
                <a:solidFill>
                  <a:srgbClr val="1A2230"/>
                </a:solidFill>
                <a:latin typeface="Inter"/>
              </a:rPr>
              <a:t>Small h</a:t>
            </a:r>
            <a:r>
              <a:rPr sz="1450" b="0" i="0">
                <a:solidFill>
                  <a:srgbClr val="1A2230"/>
                </a:solidFill>
                <a:latin typeface="Inter"/>
              </a:rPr>
              <a:t>: f(x₀+h) − f(x₀) cancels in floating point.</a:t>
            </a:r>
          </a:p>
          <a:p>
            <a:pPr>
              <a:spcAft>
                <a:spcPts val="500"/>
              </a:spcAft>
            </a:pPr>
            <a:r>
              <a:rPr sz="14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450" b="0" i="0">
                <a:solidFill>
                  <a:srgbClr val="1A2230"/>
                </a:solidFill>
                <a:latin typeface="Inter"/>
              </a:rPr>
              <a:t>There is no winning h — best case splits the digits in half.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029200" cy="2830703"/>
          </a:xfrm>
          <a:prstGeom prst="roundRect">
            <a:avLst>
              <a:gd name="adj" fmla="val 4500"/>
            </a:avLst>
          </a:prstGeom>
          <a:solidFill>
            <a:srgbClr val="EEF1F6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463040"/>
            <a:ext cx="4700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2230"/>
                </a:solidFill>
                <a:latin typeface="Inter"/>
              </a:rPr>
              <a:t>differentiate sin at 1.0, error vs cos(1.0)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801368"/>
            <a:ext cx="4700016" cy="2519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1D5AA6"/>
                </a:solidFill>
                <a:latin typeface="Roboto Mono"/>
              </a:rPr>
              <a:t>julia&gt;</a:t>
            </a:r>
            <a:r>
              <a:rPr sz="1150" b="0" i="0">
                <a:solidFill>
                  <a:srgbClr val="303A4C"/>
                </a:solidFill>
                <a:latin typeface="Roboto Mono"/>
              </a:rPr>
              <a:t> fd(f, x, h) = (f(x + h) - f(x)) / h;</a:t>
            </a:r>
          </a:p>
          <a:p>
            <a:r>
              <a:rPr sz="1150" b="0" i="0">
                <a:solidFill>
                  <a:srgbClr val="303A4C"/>
                </a:solidFill>
                <a:latin typeface="Roboto Mono"/>
              </a:rPr>
              <a:t> </a:t>
            </a:r>
          </a:p>
          <a:p>
            <a:r>
              <a:rPr sz="1150" b="1" i="0">
                <a:solidFill>
                  <a:srgbClr val="1D5AA6"/>
                </a:solidFill>
                <a:latin typeface="Roboto Mono"/>
              </a:rPr>
              <a:t>julia&gt;</a:t>
            </a:r>
            <a:r>
              <a:rPr sz="1150" b="0" i="0">
                <a:solidFill>
                  <a:srgbClr val="303A4C"/>
                </a:solidFill>
                <a:latin typeface="Roboto Mono"/>
              </a:rPr>
              <a:t> fd(sin, 1.0, 1e-2)  - cos(1.0)</a:t>
            </a:r>
          </a:p>
          <a:p>
            <a:r>
              <a:rPr sz="1150" b="0" i="0">
                <a:solidFill>
                  <a:srgbClr val="303A4C"/>
                </a:solidFill>
                <a:latin typeface="Roboto Mono"/>
              </a:rPr>
              <a:t>-0.00421632485627077      # truncation</a:t>
            </a:r>
          </a:p>
          <a:p>
            <a:r>
              <a:rPr sz="1150" b="0" i="0">
                <a:solidFill>
                  <a:srgbClr val="303A4C"/>
                </a:solidFill>
                <a:latin typeface="Roboto Mono"/>
              </a:rPr>
              <a:t> </a:t>
            </a:r>
          </a:p>
          <a:p>
            <a:r>
              <a:rPr sz="1150" b="1" i="0">
                <a:solidFill>
                  <a:srgbClr val="1D5AA6"/>
                </a:solidFill>
                <a:latin typeface="Roboto Mono"/>
              </a:rPr>
              <a:t>julia&gt;</a:t>
            </a:r>
            <a:r>
              <a:rPr sz="1150" b="0" i="0">
                <a:solidFill>
                  <a:srgbClr val="303A4C"/>
                </a:solidFill>
                <a:latin typeface="Roboto Mono"/>
              </a:rPr>
              <a:t> fd(sin, 1.0, 1e-8)  - cos(1.0)</a:t>
            </a:r>
          </a:p>
          <a:p>
            <a:r>
              <a:rPr sz="1150" b="0" i="0">
                <a:solidFill>
                  <a:srgbClr val="303A4C"/>
                </a:solidFill>
                <a:latin typeface="Roboto Mono"/>
              </a:rPr>
              <a:t>-2.9698852266335507e-9    # sweet spot</a:t>
            </a:r>
          </a:p>
          <a:p>
            <a:r>
              <a:rPr sz="1150" b="0" i="0">
                <a:solidFill>
                  <a:srgbClr val="303A4C"/>
                </a:solidFill>
                <a:latin typeface="Roboto Mono"/>
              </a:rPr>
              <a:t> </a:t>
            </a:r>
          </a:p>
          <a:p>
            <a:r>
              <a:rPr sz="1150" b="1" i="0">
                <a:solidFill>
                  <a:srgbClr val="1D5AA6"/>
                </a:solidFill>
                <a:latin typeface="Roboto Mono"/>
              </a:rPr>
              <a:t>julia&gt;</a:t>
            </a:r>
            <a:r>
              <a:rPr sz="1150" b="0" i="0">
                <a:solidFill>
                  <a:srgbClr val="303A4C"/>
                </a:solidFill>
                <a:latin typeface="Roboto Mono"/>
              </a:rPr>
              <a:t> fd(sin, 1.0, 1e-14) - cos(1.0)</a:t>
            </a:r>
          </a:p>
          <a:p>
            <a:r>
              <a:rPr sz="1150" b="0" i="0">
                <a:solidFill>
                  <a:srgbClr val="303A4C"/>
                </a:solidFill>
                <a:latin typeface="Roboto Mono"/>
              </a:rPr>
              <a:t>0.00370697619818694       </a:t>
            </a:r>
            <a:r>
              <a:rPr sz="1150" b="0" i="0">
                <a:solidFill>
                  <a:srgbClr val="7C8698"/>
                </a:solidFill>
                <a:latin typeface="Roboto Mono"/>
              </a:rPr>
              <a:t># cancellation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DUAL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Make the step size algebraic: ε²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577"/>
                </a:solidFill>
                <a:latin typeface="Inter"/>
              </a:rPr>
              <a:t>One infinitesimal component rides along with the value — the Taylor series terminates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1A2230"/>
                </a:solidFill>
                <a:latin typeface="Georgia"/>
              </a:rPr>
              <a:t>d = x + h ε,      ε² 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1A2230"/>
                </a:solidFill>
                <a:latin typeface="Georgia"/>
              </a:rPr>
              <a:t>f(x + hε) = f(x) + h f′(x) ε  +  (h²/2) f″(x) ε² + 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577"/>
                </a:solidFill>
                <a:latin typeface="Roboto Mono"/>
              </a:rPr>
              <a:t>└── = 0 exactly 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106372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No step size to choose, no truncation, no cancellation.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Seed h = 1, read the derivative off the ε slot:  </a:t>
            </a:r>
            <a:r>
              <a:rPr sz="1550" b="0" i="1">
                <a:solidFill>
                  <a:srgbClr val="1A2230"/>
                </a:solidFill>
                <a:latin typeface="Georgia"/>
              </a:rPr>
              <a:t>f′(x) = [ε] f(x + ε)</a:t>
            </a:r>
            <a:r>
              <a:rPr sz="1550" b="0" i="0">
                <a:solidFill>
                  <a:srgbClr val="1A2230"/>
                </a:solidFill>
                <a:latin typeface="Inter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Primitives need one rule each:  </a:t>
            </a:r>
            <a:r>
              <a:rPr sz="1550" b="0" i="1">
                <a:solidFill>
                  <a:srgbClr val="1A2230"/>
                </a:solidFill>
                <a:latin typeface="Georgia"/>
              </a:rPr>
              <a:t>sin(d) = sin(x) + h cos(x) ε</a:t>
            </a:r>
            <a:r>
              <a:rPr sz="1550" b="0" i="0">
                <a:solidFill>
                  <a:srgbClr val="1A2230"/>
                </a:solidFill>
                <a:latin typeface="Inter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1">
                <a:solidFill>
                  <a:srgbClr val="1A2230"/>
                </a:solidFill>
                <a:latin typeface="Georgia"/>
              </a:rPr>
              <a:t>d₁d₂ = x₁x₂ + (x₁h₂ + x₂h₁) ε</a:t>
            </a:r>
            <a:r>
              <a:rPr sz="1550" b="0" i="0">
                <a:solidFill>
                  <a:srgbClr val="1A2230"/>
                </a:solidFill>
                <a:latin typeface="Inter"/>
              </a:rPr>
              <a:t> — the product rule falls out (h₁h₂ ε² = 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DUAL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A complete forward mode in five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577"/>
                </a:solidFill>
                <a:latin typeface="Inter"/>
              </a:rPr>
              <a:t>Each rule is one line of the algebra from the previous slide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37215" cy="2535428"/>
          </a:xfrm>
          <a:prstGeom prst="roundRect">
            <a:avLst>
              <a:gd name="adj" fmla="val 4500"/>
            </a:avLst>
          </a:prstGeom>
          <a:solidFill>
            <a:srgbClr val="EEF1F6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45920"/>
            <a:ext cx="10308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2230"/>
                </a:solidFill>
                <a:latin typeface="Inter"/>
              </a:rPr>
              <a:t>value and derivative travel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84248"/>
            <a:ext cx="10308031" cy="2224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303A4C"/>
                </a:solidFill>
                <a:latin typeface="Roboto Mono"/>
              </a:rPr>
              <a:t>struct Dual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    v::Float64   </a:t>
            </a:r>
            <a:r>
              <a:rPr sz="1250" b="0" i="0">
                <a:solidFill>
                  <a:srgbClr val="7C8698"/>
                </a:solidFill>
                <a:latin typeface="Roboto Mono"/>
              </a:rPr>
              <a:t># value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    e::Float64   </a:t>
            </a:r>
            <a:r>
              <a:rPr sz="1250" b="0" i="0">
                <a:solidFill>
                  <a:srgbClr val="7C8698"/>
                </a:solidFill>
                <a:latin typeface="Roboto Mono"/>
              </a:rPr>
              <a:t># epsilon coefficient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end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Base.:+(a::Dual, b::Dual) = Dual(a.v + b.v, a.e + b.e)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Base.:*(a::Dual, b::Dual) = Dual(a.v * b.v, a.v * b.e + b.v * a.e)  </a:t>
            </a:r>
            <a:r>
              <a:rPr sz="1250" b="0" i="0">
                <a:solidFill>
                  <a:srgbClr val="7C8698"/>
                </a:solidFill>
                <a:latin typeface="Roboto Mono"/>
              </a:rPr>
              <a:t># product rule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Base.sin(d::Dual)         = Dual(sin(d.v), cos(d.v) * d.e)          </a:t>
            </a:r>
            <a:r>
              <a:rPr sz="1250" b="0" i="0">
                <a:solidFill>
                  <a:srgbClr val="7C8698"/>
                </a:solidFill>
                <a:latin typeface="Roboto Mono"/>
              </a:rPr>
              <a:t># chain rule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derivative(f, x) = f(Dual(x, 1.0)).e     </a:t>
            </a:r>
            <a:r>
              <a:rPr sz="1250" b="0" i="0">
                <a:solidFill>
                  <a:srgbClr val="7C8698"/>
                </a:solidFill>
                <a:latin typeface="Roboto Mono"/>
              </a:rPr>
              <a:t># seed eps = 1, run f, read 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64228"/>
            <a:ext cx="10637215" cy="994219"/>
          </a:xfrm>
          <a:prstGeom prst="roundRect">
            <a:avLst>
              <a:gd name="adj" fmla="val 4500"/>
            </a:avLst>
          </a:prstGeom>
          <a:solidFill>
            <a:srgbClr val="EEF1F6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437380"/>
            <a:ext cx="10308031" cy="994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D5AA6"/>
                </a:solidFill>
                <a:latin typeface="Roboto Mono"/>
              </a:rPr>
              <a:t>julia&gt;</a:t>
            </a:r>
            <a:r>
              <a:rPr sz="1250" b="0" i="0">
                <a:solidFill>
                  <a:srgbClr val="303A4C"/>
                </a:solidFill>
                <a:latin typeface="Roboto Mono"/>
              </a:rPr>
              <a:t> f(x) = x * sin(x * x);</a:t>
            </a:r>
          </a:p>
          <a:p>
            <a:r>
              <a:rPr sz="1250" b="1" i="0">
                <a:solidFill>
                  <a:srgbClr val="1D5AA6"/>
                </a:solidFill>
                <a:latin typeface="Roboto Mono"/>
              </a:rPr>
              <a:t>julia&gt;</a:t>
            </a:r>
            <a:r>
              <a:rPr sz="1250" b="0" i="0">
                <a:solidFill>
                  <a:srgbClr val="303A4C"/>
                </a:solidFill>
                <a:latin typeface="Roboto Mono"/>
              </a:rPr>
              <a:t> derivative(f, 2.0)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-5.985951462216824        # = sin(4) + 8cos(4), to the last 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72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A6577"/>
                </a:solidFill>
                <a:latin typeface="Inter"/>
              </a:rPr>
              <a:t>Works on unmodified generic code. Real packages add promotion (Dual + Float64), many more rules, and vectors of epsilons — same idea.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SECOND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Differentiate 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577"/>
                </a:solidFill>
                <a:latin typeface="Inter"/>
              </a:rPr>
              <a:t>second_derivative(f, x) = derivative(y -&gt; derivative(f, y), x)  —  derivative is just Julia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37215" cy="2043302"/>
          </a:xfrm>
          <a:prstGeom prst="roundRect">
            <a:avLst>
              <a:gd name="adj" fmla="val 4500"/>
            </a:avLst>
          </a:prstGeom>
          <a:solidFill>
            <a:srgbClr val="EEF1F6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45920"/>
            <a:ext cx="10308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2230"/>
                </a:solidFill>
                <a:latin typeface="Inter"/>
              </a:rPr>
              <a:t>the only change: let a Dual hold a 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84248"/>
            <a:ext cx="10308031" cy="1732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CF3D3C"/>
                </a:solidFill>
                <a:latin typeface="Roboto Mono"/>
              </a:rPr>
              <a:t>-struct Dual;    v::Float64; e::Float64; end</a:t>
            </a:r>
          </a:p>
          <a:p>
            <a:r>
              <a:rPr sz="1250" b="0" i="0">
                <a:solidFill>
                  <a:srgbClr val="1D5AA6"/>
                </a:solidFill>
                <a:latin typeface="Roboto Mono"/>
              </a:rPr>
              <a:t>+struct Dual{T}; v::T;       e::T;       end</a:t>
            </a:r>
          </a:p>
          <a:p>
            <a:r>
              <a:rPr sz="1250" b="0" i="0">
                <a:solidFill>
                  <a:srgbClr val="CF3D3C"/>
                </a:solidFill>
                <a:latin typeface="Roboto Mono"/>
              </a:rPr>
              <a:t>-derivative(f, x) = f(Dual(x, 1.0)).e</a:t>
            </a:r>
          </a:p>
          <a:p>
            <a:r>
              <a:rPr sz="1250" b="0" i="0">
                <a:solidFill>
                  <a:srgbClr val="1D5AA6"/>
                </a:solidFill>
                <a:latin typeface="Roboto Mono"/>
              </a:rPr>
              <a:t>+derivative(f, x) = f(Dual(x, one(x))).e</a:t>
            </a:r>
          </a:p>
          <a:p>
            <a:r>
              <a:rPr sz="1250" b="0" i="0">
                <a:solidFill>
                  <a:srgbClr val="1D5AA6"/>
                </a:solidFill>
                <a:latin typeface="Roboto Mono"/>
              </a:rPr>
              <a:t>+Base.one(d::Dual) = Dual(one(d.v), zero(d.v))   # so the inner seed nests</a:t>
            </a:r>
          </a:p>
          <a:p>
            <a:r>
              <a:rPr sz="1250" b="0" i="0">
                <a:solidFill>
                  <a:srgbClr val="1D5AA6"/>
                </a:solidFill>
                <a:latin typeface="Roboto Mono"/>
              </a:rPr>
              <a:t>+Base.cos(d::Dual) = Dual(cos(d.v), -sin(d.v) * d.e)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53231"/>
            <a:ext cx="10637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1D5AA6"/>
                </a:solidFill>
                <a:latin typeface="Roboto Mono"/>
              </a:rPr>
              <a:t>● </a:t>
            </a:r>
            <a:r>
              <a:rPr sz="1150" b="0" i="0">
                <a:solidFill>
                  <a:srgbClr val="1D5AA6"/>
                </a:solidFill>
                <a:latin typeface="Roboto Mono"/>
              </a:rPr>
              <a:t>second_derivative(f, 2.0) → 16.37395639949036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    </a:t>
            </a:r>
            <a:r>
              <a:rPr sz="1150" b="0" i="0">
                <a:solidFill>
                  <a:srgbClr val="CF3D3C"/>
                </a:solidFill>
                <a:latin typeface="Roboto Mono"/>
              </a:rPr>
              <a:t>● </a:t>
            </a:r>
            <a:r>
              <a:rPr sz="1150" b="0" i="0">
                <a:solidFill>
                  <a:srgbClr val="CF3D3C"/>
                </a:solidFill>
                <a:latin typeface="Roboto Mono"/>
              </a:rPr>
              <a:t>cos rule became required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    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● 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rules get differentiated too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29303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1A2230"/>
                </a:solidFill>
                <a:latin typeface="Georgia"/>
              </a:rPr>
              <a:t>f(x + ε₁ + ε₂) = f(x) + f′(x)(ε₁ + ε₂) + f″(x) ε₁ε₂,      ε₁² = ε₂² = 0,  ε₁ε₂ ≠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15103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The nested number carries </a:t>
            </a:r>
            <a:r>
              <a:rPr sz="1550" b="0" i="1">
                <a:solidFill>
                  <a:srgbClr val="1A2230"/>
                </a:solidFill>
                <a:latin typeface="Georgia"/>
              </a:rPr>
              <a:t>((f, f′), (f′, f″))</a:t>
            </a:r>
            <a:r>
              <a:rPr sz="1550" b="0" i="0">
                <a:solidFill>
                  <a:srgbClr val="1A2230"/>
                </a:solidFill>
                <a:latin typeface="Inter"/>
              </a:rPr>
              <a:t> — four slots, f′ computed </a:t>
            </a:r>
            <a:r>
              <a:rPr sz="1550" b="1" i="0">
                <a:solidFill>
                  <a:srgbClr val="1A2230"/>
                </a:solidFill>
                <a:latin typeface="Inter"/>
              </a:rPr>
              <a:t>twice</a:t>
            </a:r>
            <a:r>
              <a:rPr sz="1550" b="0" i="0">
                <a:solidFill>
                  <a:srgbClr val="1A2230"/>
                </a:solidFill>
                <a:latin typeface="Inter"/>
              </a:rPr>
              <a:t>. That redundancy is the thread we pull for the rest of the talk.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MANY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Jacobians: seed a direction, get Jh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577"/>
                </a:solidFill>
                <a:latin typeface="Inter"/>
              </a:rPr>
              <a:t>f: ℝⁿ → ℝᵐ — the same trick, one input direction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1A2230"/>
                </a:solidFill>
                <a:latin typeface="Georgia"/>
              </a:rPr>
              <a:t>f(x + h ε) = f(x) + J(x) h ε,       Jₖⱼ = ∂Fₖ / ∂xⱼ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1A2230"/>
                </a:solidFill>
                <a:latin typeface="Inter"/>
              </a:rPr>
              <a:t>One pass is a </a:t>
            </a:r>
            <a:r>
              <a:rPr sz="1550" b="1" i="0">
                <a:solidFill>
                  <a:srgbClr val="1A2230"/>
                </a:solidFill>
                <a:latin typeface="Inter"/>
              </a:rPr>
              <a:t>Jacobian-vector product</a:t>
            </a:r>
            <a:r>
              <a:rPr sz="1550" b="0" i="0">
                <a:solidFill>
                  <a:srgbClr val="1A2230"/>
                </a:solidFill>
                <a:latin typeface="Inter"/>
              </a:rPr>
              <a:t>. Seed the identity, column by column: h = eᵢ picks out Jeᵢ.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34640"/>
            <a:ext cx="10637215" cy="2289365"/>
          </a:xfrm>
          <a:prstGeom prst="roundRect">
            <a:avLst>
              <a:gd name="adj" fmla="val 4500"/>
            </a:avLst>
          </a:prstGeom>
          <a:solidFill>
            <a:srgbClr val="EEF1F6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880360"/>
            <a:ext cx="10308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2230"/>
                </a:solidFill>
                <a:latin typeface="Inter"/>
              </a:rPr>
              <a:t>n passes, one per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18688"/>
            <a:ext cx="10308031" cy="1978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303A4C"/>
                </a:solidFill>
                <a:latin typeface="Roboto Mono"/>
              </a:rPr>
              <a:t>function jacobian(f, x::Vector)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    cols = map(eachindex(x)) do i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        d = [Dual(x[j], i == j ? 1.0 : 0.0) for j in eachindex(x)]   </a:t>
            </a:r>
            <a:r>
              <a:rPr sz="1250" b="0" i="0">
                <a:solidFill>
                  <a:srgbClr val="7C8698"/>
                </a:solidFill>
                <a:latin typeface="Roboto Mono"/>
              </a:rPr>
              <a:t># seed e_i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        [y.e for y in f(d)]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    end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    return stack(cols)   </a:t>
            </a:r>
            <a:r>
              <a:rPr sz="1250" b="0" i="0">
                <a:solidFill>
                  <a:srgbClr val="7C8698"/>
                </a:solidFill>
                <a:latin typeface="Roboto Mono"/>
              </a:rPr>
              <a:t># m x n</a:t>
            </a:r>
          </a:p>
          <a:p>
            <a:r>
              <a:rPr sz="1250" b="0" i="0">
                <a:solidFill>
                  <a:srgbClr val="303A4C"/>
                </a:solidFill>
                <a:latin typeface="Roboto Mono"/>
              </a:rPr>
              <a:t>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33733"/>
            <a:ext cx="10637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CF3D3C"/>
                </a:solidFill>
                <a:latin typeface="Roboto Mono"/>
              </a:rPr>
              <a:t>● </a:t>
            </a:r>
            <a:r>
              <a:rPr sz="1150" b="0" i="0">
                <a:solidFill>
                  <a:srgbClr val="CF3D3C"/>
                </a:solidFill>
                <a:latin typeface="Roboto Mono"/>
              </a:rPr>
              <a:t>one full f per input dimension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    </a:t>
            </a:r>
            <a:r>
              <a:rPr sz="1150" b="0" i="0">
                <a:solidFill>
                  <a:srgbClr val="CF3D3C"/>
                </a:solidFill>
                <a:latin typeface="Roboto Mono"/>
              </a:rPr>
              <a:t>● </a:t>
            </a:r>
            <a:r>
              <a:rPr sz="1150" b="0" i="0">
                <a:solidFill>
                  <a:srgbClr val="CF3D3C"/>
                </a:solidFill>
                <a:latin typeface="Roboto Mono"/>
              </a:rPr>
              <a:t>primal recomputed n times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    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● 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gradient = the m = 1 row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MANY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Chunk mode: N columns per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577"/>
                </a:solidFill>
                <a:latin typeface="Inter"/>
              </a:rPr>
              <a:t>The epsilon becomes a tuple — every rule just broadcasts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37215" cy="1984248"/>
          </a:xfrm>
          <a:prstGeom prst="roundRect">
            <a:avLst>
              <a:gd name="adj" fmla="val 4500"/>
            </a:avLst>
          </a:prstGeom>
          <a:solidFill>
            <a:srgbClr val="EEF1F6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45920"/>
            <a:ext cx="10308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2230"/>
                </a:solidFill>
                <a:latin typeface="Inter"/>
              </a:rPr>
              <a:t>scalar partial → chunk of partials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84248"/>
            <a:ext cx="10308031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CF3D3C"/>
                </a:solidFill>
                <a:latin typeface="Roboto Mono"/>
              </a:rPr>
              <a:t>-struct Dual{T}; v::T;       e::T;                  end</a:t>
            </a:r>
          </a:p>
          <a:p>
            <a:r>
              <a:rPr sz="1200" b="0" i="0">
                <a:solidFill>
                  <a:srgbClr val="1D5AA6"/>
                </a:solidFill>
                <a:latin typeface="Roboto Mono"/>
              </a:rPr>
              <a:t>+struct Dual{N}; v::Float64; e::NTuple{N,Float64};  end   # N directions ride along</a:t>
            </a:r>
          </a:p>
          <a:p>
            <a:r>
              <a:rPr sz="1200" b="0" i="0">
                <a:solidFill>
                  <a:srgbClr val="CF3D3C"/>
                </a:solidFill>
                <a:latin typeface="Roboto Mono"/>
              </a:rPr>
              <a:t>-Base.:*(a::Dual, b::Dual) = Dual(a.v * b.v, a.v * b.e + b.v * a.e)</a:t>
            </a:r>
          </a:p>
          <a:p>
            <a:r>
              <a:rPr sz="1200" b="0" i="0">
                <a:solidFill>
                  <a:srgbClr val="1D5AA6"/>
                </a:solidFill>
                <a:latin typeface="Roboto Mono"/>
              </a:rPr>
              <a:t>+Base.:*(a::Dual{N}, b::Dual{N}) where N = Dual(a.v * b.v, a.v .* b.e .+ b.v .* a.e)</a:t>
            </a:r>
          </a:p>
          <a:p>
            <a:r>
              <a:rPr sz="1200" b="0" i="0">
                <a:solidFill>
                  <a:srgbClr val="CF3D3C"/>
                </a:solidFill>
                <a:latin typeface="Roboto Mono"/>
              </a:rPr>
              <a:t>-Base.sin(d::Dual) = Dual(sin(d.v), cos(d.v) * d.e)</a:t>
            </a:r>
          </a:p>
          <a:p>
            <a:r>
              <a:rPr sz="1200" b="0" i="0">
                <a:solidFill>
                  <a:srgbClr val="1D5AA6"/>
                </a:solidFill>
                <a:latin typeface="Roboto Mono"/>
              </a:rPr>
              <a:t>+Base.sin(d::Dual) = Dual(sin(d.v), cos(d.v) .* d.e)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04487"/>
            <a:ext cx="106372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00" b="0" i="0">
                <a:solidFill>
                  <a:srgbClr val="1A2230"/>
                </a:solidFill>
                <a:latin typeface="Inter"/>
              </a:rPr>
              <a:t>Identity seeded all at once → whole Jacobian in </a:t>
            </a:r>
            <a:r>
              <a:rPr sz="1500" b="1" i="0">
                <a:solidFill>
                  <a:srgbClr val="1A2230"/>
                </a:solidFill>
                <a:latin typeface="Inter"/>
              </a:rPr>
              <a:t>one pass</a:t>
            </a:r>
            <a:r>
              <a:rPr sz="1500" b="0" i="0">
                <a:solidFill>
                  <a:srgbClr val="1A2230"/>
                </a:solidFill>
                <a:latin typeface="Inter"/>
              </a:rPr>
              <a:t>, primal shared by all n columns.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350" b="0" i="0">
                <a:solidFill>
                  <a:srgbClr val="1D5AA6"/>
                </a:solidFill>
                <a:latin typeface="Roboto Mono"/>
              </a:rPr>
              <a:t>sin</a:t>
            </a:r>
            <a:r>
              <a:rPr sz="1500" b="0" i="0">
                <a:solidFill>
                  <a:srgbClr val="1A2230"/>
                </a:solidFill>
                <a:latin typeface="Inter"/>
              </a:rPr>
              <a:t> still calls </a:t>
            </a:r>
            <a:r>
              <a:rPr sz="1350" b="0" i="0">
                <a:solidFill>
                  <a:srgbClr val="1D5AA6"/>
                </a:solidFill>
                <a:latin typeface="Roboto Mono"/>
              </a:rPr>
              <a:t>cos</a:t>
            </a:r>
            <a:r>
              <a:rPr sz="1500" b="1" i="0">
                <a:solidFill>
                  <a:srgbClr val="1A2230"/>
                </a:solidFill>
                <a:latin typeface="Inter"/>
              </a:rPr>
              <a:t> once</a:t>
            </a:r>
            <a:r>
              <a:rPr sz="1500" b="0" i="0">
                <a:solidFill>
                  <a:srgbClr val="1A2230"/>
                </a:solidFill>
                <a:latin typeface="Inter"/>
              </a:rPr>
              <a:t> — expensive rule work is amortized across all N directions.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00" b="0" i="0">
                <a:solidFill>
                  <a:srgbClr val="1A2230"/>
                </a:solidFill>
                <a:latin typeface="Inter"/>
              </a:rPr>
              <a:t>But cost per op grows with N, and a fat </a:t>
            </a:r>
            <a:r>
              <a:rPr sz="1350" b="0" i="0">
                <a:solidFill>
                  <a:srgbClr val="1D5AA6"/>
                </a:solidFill>
                <a:latin typeface="Roboto Mono"/>
              </a:rPr>
              <a:t>Dual{N}</a:t>
            </a:r>
            <a:r>
              <a:rPr sz="1500" b="0" i="0">
                <a:solidFill>
                  <a:srgbClr val="1A2230"/>
                </a:solidFill>
                <a:latin typeface="Inter"/>
              </a:rPr>
              <a:t> spills registers → cap N at a chunk (~8–12) and sweep n/N passes. The chunk layout is the performance knob.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SECOND ORDER, DONE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One variable needs one epsilon: ε³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577"/>
                </a:solidFill>
                <a:latin typeface="Inter"/>
              </a:rPr>
              <a:t>A jet — keep one more Taylor power instead of nesting two first-order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1A2230"/>
                </a:solidFill>
                <a:latin typeface="Georgia"/>
              </a:rPr>
              <a:t>t = x + a ε + c ε²,      ε³ 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1A2230"/>
                </a:solidFill>
                <a:latin typeface="Georgia"/>
              </a:rPr>
              <a:t>f(t) = f(x) + f′(x)(aε + cε²) + (f″(x)/2) a²ε²   ⟶ (a=1, c=0) ⟶   f(x) + f′(x) ε + (f″(x)/2) ε²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106372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Three slots </a:t>
            </a:r>
            <a:r>
              <a:rPr sz="1550" b="0" i="1">
                <a:solidFill>
                  <a:srgbClr val="1A2230"/>
                </a:solidFill>
                <a:latin typeface="Georgia"/>
              </a:rPr>
              <a:t>(f,  f′,  f″/2)</a:t>
            </a:r>
            <a:r>
              <a:rPr sz="1550" b="0" i="0">
                <a:solidFill>
                  <a:srgbClr val="1A2230"/>
                </a:solidFill>
                <a:latin typeface="Inter"/>
              </a:rPr>
              <a:t> — one pass, exact, </a:t>
            </a:r>
            <a:r>
              <a:rPr sz="1550" b="1" i="0">
                <a:solidFill>
                  <a:srgbClr val="1A2230"/>
                </a:solidFill>
                <a:latin typeface="Inter"/>
              </a:rPr>
              <a:t>nothing stored twice</a:t>
            </a:r>
            <a:r>
              <a:rPr sz="1550" b="0" i="0">
                <a:solidFill>
                  <a:srgbClr val="1A2230"/>
                </a:solidFill>
                <a:latin typeface="Inter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Multiply:  </a:t>
            </a:r>
            <a:r>
              <a:rPr sz="1550" b="0" i="1">
                <a:solidFill>
                  <a:srgbClr val="1A2230"/>
                </a:solidFill>
                <a:latin typeface="Georgia"/>
              </a:rPr>
              <a:t>t₁t₂ = x₁x₂ + (x₁a₂ + x₂a₁) ε + (x₁c₂ + x₂c₁ + a₁a₂) ε²</a:t>
            </a:r>
            <a:r>
              <a:rPr sz="1550" b="0" i="0">
                <a:solidFill>
                  <a:srgbClr val="1A2230"/>
                </a:solidFill>
                <a:latin typeface="Inter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Rules use f′, f″ directly:  </a:t>
            </a:r>
            <a:r>
              <a:rPr sz="1550" b="0" i="1">
                <a:solidFill>
                  <a:srgbClr val="1A2230"/>
                </a:solidFill>
                <a:latin typeface="Georgia"/>
              </a:rPr>
              <a:t>sin(t) = sin x + a cos x ε + (c cos x − (a²/2) sin x) ε²</a:t>
            </a:r>
            <a:r>
              <a:rPr sz="1550" b="0" i="0">
                <a:solidFill>
                  <a:srgbClr val="1A2230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SECOND ORDER, DONE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The scalar jet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577"/>
                </a:solidFill>
                <a:latin typeface="Inter"/>
              </a:rPr>
              <a:t>Same drill as the five-line forward mode — rules transcribed straight from the algebra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37215" cy="3637788"/>
          </a:xfrm>
          <a:prstGeom prst="roundRect">
            <a:avLst>
              <a:gd name="adj" fmla="val 4500"/>
            </a:avLst>
          </a:prstGeom>
          <a:solidFill>
            <a:srgbClr val="EEF1F6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45920"/>
            <a:ext cx="10308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2230"/>
                </a:solidFill>
                <a:latin typeface="Inter"/>
              </a:rPr>
              <a:t>three slots, no nesting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84248"/>
            <a:ext cx="10308031" cy="3326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03A4C"/>
                </a:solidFill>
                <a:latin typeface="Roboto Mono"/>
              </a:rPr>
              <a:t>struct Jet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    v::Float64   </a:t>
            </a:r>
            <a:r>
              <a:rPr sz="1200" b="0" i="0">
                <a:solidFill>
                  <a:srgbClr val="7C8698"/>
                </a:solidFill>
                <a:latin typeface="Roboto Mono"/>
              </a:rPr>
              <a:t># f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    e::Float64   </a:t>
            </a:r>
            <a:r>
              <a:rPr sz="1200" b="0" i="0">
                <a:solidFill>
                  <a:srgbClr val="7C8698"/>
                </a:solidFill>
                <a:latin typeface="Roboto Mono"/>
              </a:rPr>
              <a:t># eps   coefficient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    h::Float64   </a:t>
            </a:r>
            <a:r>
              <a:rPr sz="1200" b="0" i="0">
                <a:solidFill>
                  <a:srgbClr val="7C8698"/>
                </a:solidFill>
                <a:latin typeface="Roboto Mono"/>
              </a:rPr>
              <a:t># eps^2 coefficient (= f''/2 after seeding)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end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Base.:*(a::Jet, b::Jet) = Jet(a.v * b.v,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                              a.v * b.e + b.v * a.e,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                              a.v * b.h + b.v * a.h + a.e * b.e)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function Base.sin(t::Jet)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    s, c = sincos(t.v)                  </a:t>
            </a:r>
            <a:r>
              <a:rPr sz="1200" b="0" i="0">
                <a:solidFill>
                  <a:srgbClr val="7C8698"/>
                </a:solidFill>
                <a:latin typeface="Roboto Mono"/>
              </a:rPr>
              <a:t># f', f'' evaluated ONCE, as plain floats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    Jet(s, c * t.e, c * t.h - s * t.e^2 / 2)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end</a:t>
            </a:r>
          </a:p>
          <a:p>
            <a:r>
              <a:rPr sz="1200" b="0" i="0">
                <a:solidFill>
                  <a:srgbClr val="303A4C"/>
                </a:solidFill>
                <a:latin typeface="Roboto Mono"/>
              </a:rPr>
              <a:t>second_derivative(f, x) = 2 * f(Jet(x, 1.0, 0.0)).h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47716"/>
            <a:ext cx="10637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1D5AA6"/>
                </a:solidFill>
                <a:latin typeface="Roboto Mono"/>
              </a:rPr>
              <a:t>● </a:t>
            </a:r>
            <a:r>
              <a:rPr sz="1150" b="0" i="0">
                <a:solidFill>
                  <a:srgbClr val="1D5AA6"/>
                </a:solidFill>
                <a:latin typeface="Roboto Mono"/>
              </a:rPr>
              <a:t>one pass → (f, f′, f″) = (−1.5136…, −5.98595…, 16.37395…)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    </a:t>
            </a:r>
            <a:r>
              <a:rPr sz="1150" b="0" i="0">
                <a:solidFill>
                  <a:srgbClr val="1D5AA6"/>
                </a:solidFill>
                <a:latin typeface="Roboto Mono"/>
              </a:rPr>
              <a:t>● </a:t>
            </a:r>
            <a:r>
              <a:rPr sz="1150" b="0" i="0">
                <a:solidFill>
                  <a:srgbClr val="1D5AA6"/>
                </a:solidFill>
                <a:latin typeface="Roboto Mono"/>
              </a:rPr>
              <a:t>no rules-of-rules</a:t>
            </a:r>
            <a:r>
              <a:rPr sz="1150" b="0" i="0">
                <a:solidFill>
                  <a:srgbClr val="5A6577"/>
                </a:solidFill>
                <a:latin typeface="Roboto Mono"/>
              </a:rPr>
              <a:t>    </a:t>
            </a:r>
            <a:r>
              <a:rPr sz="1150" b="0" i="0">
                <a:solidFill>
                  <a:srgbClr val="1D5AA6"/>
                </a:solidFill>
                <a:latin typeface="Roboto Mono"/>
              </a:rPr>
              <a:t>● </a:t>
            </a:r>
            <a:r>
              <a:rPr sz="1150" b="0" i="0">
                <a:solidFill>
                  <a:srgbClr val="1D5AA6"/>
                </a:solidFill>
                <a:latin typeface="Roboto Mono"/>
              </a:rPr>
              <a:t>flat struct of 3 floats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SECOND ORDER, DONE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All of the Hessian in one pass — until it gets fat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577"/>
                </a:solidFill>
                <a:latin typeface="Inter"/>
              </a:rPr>
              <a:t>Multivariate jet: seed all n directions, keep every second-order product (εᵢεⱼεₖ =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1A2230"/>
                </a:solidFill>
                <a:latin typeface="Inter"/>
              </a:rPr>
              <a:t>What one number carries: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450" b="0" i="0">
                <a:solidFill>
                  <a:srgbClr val="1A2230"/>
                </a:solidFill>
                <a:latin typeface="Inter"/>
              </a:rPr>
              <a:t>value — 1 slot</a:t>
            </a:r>
          </a:p>
          <a:p>
            <a:pPr>
              <a:spcAft>
                <a:spcPts val="500"/>
              </a:spcAft>
            </a:pPr>
            <a:r>
              <a:rPr sz="14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450" b="0" i="0">
                <a:solidFill>
                  <a:srgbClr val="1A2230"/>
                </a:solidFill>
                <a:latin typeface="Inter"/>
              </a:rPr>
              <a:t>gradient — n slots (εᵢ)</a:t>
            </a:r>
          </a:p>
          <a:p>
            <a:pPr>
              <a:spcAft>
                <a:spcPts val="500"/>
              </a:spcAft>
            </a:pPr>
            <a:r>
              <a:rPr sz="14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450" b="0" i="0">
                <a:solidFill>
                  <a:srgbClr val="1A2230"/>
                </a:solidFill>
                <a:latin typeface="Inter"/>
              </a:rPr>
              <a:t>Hessian upper triangle — n(n+1)/2 slots: εᵢεⱼ with i ≤ j, symmetry stored </a:t>
            </a:r>
            <a:r>
              <a:rPr sz="1450" b="1" i="0">
                <a:solidFill>
                  <a:srgbClr val="1A2230"/>
                </a:solidFill>
                <a:latin typeface="Inter"/>
              </a:rPr>
              <a:t>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>
                <a:solidFill>
                  <a:srgbClr val="1A2230"/>
                </a:solidFill>
                <a:latin typeface="Inter"/>
              </a:rPr>
              <a:t>This is </a:t>
            </a:r>
            <a:r>
              <a:rPr sz="1300" b="0" i="0">
                <a:solidFill>
                  <a:srgbClr val="1D5AA6"/>
                </a:solidFill>
                <a:latin typeface="Roboto Mono"/>
              </a:rPr>
              <a:t>Jet{N}</a:t>
            </a:r>
            <a:r>
              <a:rPr sz="1450" b="0" i="0">
                <a:solidFill>
                  <a:srgbClr val="1A2230"/>
                </a:solidFill>
                <a:latin typeface="Inter"/>
              </a:rPr>
              <a:t> in HyperHessians — at n = 4 it is 15 floats against 25 for a two-epsilon number, and it wins for small 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737360"/>
          <a:ext cx="4754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5A6577"/>
                          </a:solidFill>
                          <a:latin typeface="Roboto Mono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5A6577"/>
                          </a:solidFill>
                          <a:latin typeface="Roboto Mono"/>
                        </a:rPr>
                        <a:t>slots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5A6577"/>
                          </a:solidFill>
                          <a:latin typeface="Roboto Mono"/>
                        </a:rPr>
                        <a:t>bytes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120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1.2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2145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17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230"/>
                          </a:solidFill>
                          <a:latin typeface="Roboto Mono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D5AA6"/>
                          </a:solidFill>
                          <a:latin typeface="Roboto Mono"/>
                        </a:rPr>
                        <a:t>33153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D5AA6"/>
                          </a:solidFill>
                          <a:latin typeface="Roboto Mono"/>
                        </a:rPr>
                        <a:t>260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A6577"/>
                </a:solidFill>
                <a:latin typeface="Inter"/>
              </a:rPr>
              <a:t>Quadratic in n: at n = 256 one number is ~260 KB — no register, no cache line, no chance.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47472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D5AA6"/>
                </a:solidFill>
                <a:latin typeface="Inter"/>
              </a:rPr>
              <a:t>SECOND ORDER, DONE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1A2230"/>
                </a:solidFill>
                <a:latin typeface="Inter"/>
              </a:rPr>
              <a:t>Chunking second order is why ε₂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577"/>
                </a:solidFill>
                <a:latin typeface="Inter"/>
              </a:rPr>
              <a:t>An off-diagonal Hessian block mixes directions from two different chunks — they must ride through f independently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1A2230"/>
                </a:solidFill>
                <a:latin typeface="Georgia"/>
              </a:rPr>
              <a:t>h = x + Σᵢ aᵢ ε₁ᵢ + Σⱼ bⱼ ε₂ⱼ,      [ε₁ᵢ ε₂ⱼ] f(h) = ∂²f / ∂xᵢ∂xⱼ = H[i, j]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106372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ε₁ carries chunk I, ε₂ carries chunk J — the ε₁ε₂ slots are an N₁ × N₂ </a:t>
            </a:r>
            <a:r>
              <a:rPr sz="1550" b="1" i="0">
                <a:solidFill>
                  <a:srgbClr val="1A2230"/>
                </a:solidFill>
                <a:latin typeface="Inter"/>
              </a:rPr>
              <a:t>block</a:t>
            </a:r>
            <a:r>
              <a:rPr sz="1550" b="0" i="0">
                <a:solidFill>
                  <a:srgbClr val="1A2230"/>
                </a:solidFill>
                <a:latin typeface="Inter"/>
              </a:rPr>
              <a:t> of H.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400" b="0" i="0">
                <a:solidFill>
                  <a:srgbClr val="1D5AA6"/>
                </a:solidFill>
                <a:latin typeface="Roboto Mono"/>
              </a:rPr>
              <a:t>HyperDual{N1,N2}</a:t>
            </a:r>
            <a:r>
              <a:rPr sz="1550" b="0" i="0">
                <a:solidFill>
                  <a:srgbClr val="1A2230"/>
                </a:solidFill>
                <a:latin typeface="Inter"/>
              </a:rPr>
              <a:t>: 1 + N₁ + N₂ + N₁N₂ slots — </a:t>
            </a:r>
            <a:r>
              <a:rPr sz="1400" b="0" i="0">
                <a:solidFill>
                  <a:srgbClr val="1D5AA6"/>
                </a:solidFill>
                <a:latin typeface="Roboto Mono"/>
              </a:rPr>
              <a:t>{8,8}</a:t>
            </a:r>
            <a:r>
              <a:rPr sz="1550" b="0" i="0">
                <a:solidFill>
                  <a:srgbClr val="1A2230"/>
                </a:solidFill>
                <a:latin typeface="Inter"/>
              </a:rPr>
              <a:t> is 81 floats, register-sized.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Symmetry: only block pairs I ≤ J — k(k+1)/2 evaluations for k chunks, not k².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2A78D6"/>
                </a:solidFill>
                <a:latin typeface="Inter"/>
              </a:rPr>
              <a:t>•  </a:t>
            </a:r>
            <a:r>
              <a:rPr sz="1550" b="0" i="0">
                <a:solidFill>
                  <a:srgbClr val="1A2230"/>
                </a:solidFill>
                <a:latin typeface="Inter"/>
              </a:rPr>
              <a:t>Asymmetric chunks come free: seed ε₂ with a tangent v → </a:t>
            </a:r>
            <a:r>
              <a:rPr sz="1400" b="0" i="0">
                <a:solidFill>
                  <a:srgbClr val="1D5AA6"/>
                </a:solidFill>
                <a:latin typeface="Roboto Mono"/>
              </a:rPr>
              <a:t>HyperDual{N,1}</a:t>
            </a:r>
            <a:r>
              <a:rPr sz="1550" b="0" i="0">
                <a:solidFill>
                  <a:srgbClr val="1A2230"/>
                </a:solidFill>
                <a:latin typeface="Inter"/>
              </a:rPr>
              <a:t> computes Hv without forming 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5AA6"/>
                </a:solidFill>
                <a:latin typeface="Inter"/>
              </a:rPr>
              <a:t>HYPERHESSIANS.JL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5176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2230"/>
                </a:solidFill>
                <a:latin typeface="Inter"/>
              </a:rPr>
              <a:t>Thanks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49039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A6577"/>
                </a:solidFill>
                <a:latin typeface="Roboto Mono"/>
              </a:rPr>
              <a:t>github.com/KristofferC/HyperHessians.jl     benchmark/why-faster/report.html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yperHessians Light">
      <a:dk1>
        <a:srgbClr val="1A2230"/>
      </a:dk1>
      <a:lt1>
        <a:srgbClr val="F7F8FA"/>
      </a:lt1>
      <a:dk2>
        <a:srgbClr val="5A6577"/>
      </a:dk2>
      <a:lt2>
        <a:srgbClr val="FFFFFF"/>
      </a:lt2>
      <a:accent1>
        <a:srgbClr val="2A78D6"/>
      </a:accent1>
      <a:accent2>
        <a:srgbClr val="EB6834"/>
      </a:accent2>
      <a:accent3>
        <a:srgbClr val="4A3AA7"/>
      </a:accent3>
      <a:accent4>
        <a:srgbClr val="CF3D3C"/>
      </a:accent4>
      <a:accent5>
        <a:srgbClr val="8B95A5"/>
      </a:accent5>
      <a:accent6>
        <a:srgbClr val="DDE2EA"/>
      </a:accent6>
      <a:hlink>
        <a:srgbClr val="1D5AA6"/>
      </a:hlink>
      <a:folHlink>
        <a:srgbClr val="4A3AA7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