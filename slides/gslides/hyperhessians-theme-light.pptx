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A2230"/>
                </a:solidFill>
              </a:rPr>
              <a:t>From dual numbers to fast Hessians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5A6577"/>
                </a:solidFill>
              </a:rPr>
              <a:t>HyperHessians.jl — theme starter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2230"/>
                </a:solidFill>
              </a:rPr>
              <a:t>Section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A2230"/>
                </a:solidFill>
              </a:rPr>
              <a:t>Body text in ink; keep blue as the only emphasis color.</a:t>
            </a:r>
          </a:p>
          <a:p>
            <a:r>
              <a:rPr sz="2000">
                <a:solidFill>
                  <a:srgbClr val="1A2230"/>
                </a:solidFill>
              </a:rPr>
              <a:t>Orange and purple are data-series colors, never emphasis.</a:t>
            </a:r>
          </a:p>
          <a:p>
            <a:r>
              <a:rPr sz="2000">
                <a:solidFill>
                  <a:srgbClr val="1A2230"/>
                </a:solidFill>
              </a:rPr>
              <a:t>Muted gray for kickers, captions and de-emphasis.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2230"/>
                </a:solidFill>
              </a:rPr>
              <a:t>Theme colors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383280" cy="13716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4436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577"/>
                </a:solidFill>
              </a:rPr>
              <a:t>Accent / blue — #2A78D6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554480"/>
            <a:ext cx="3383280" cy="13716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294436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577"/>
                </a:solidFill>
              </a:rPr>
              <a:t>Series 2 / orange — #EB6834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554480"/>
            <a:ext cx="3383280" cy="1371600"/>
          </a:xfrm>
          <a:prstGeom prst="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94436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577"/>
                </a:solidFill>
              </a:rPr>
              <a:t>Series 3 / purple — #4A3AA7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40"/>
            <a:ext cx="3383280" cy="1371600"/>
          </a:xfrm>
          <a:prstGeom prst="rect">
            <a:avLst/>
          </a:prstGeom>
          <a:solidFill>
            <a:srgbClr val="CF3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3892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577"/>
                </a:solidFill>
              </a:rPr>
              <a:t>Bad / red — #CF3D3C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3749040"/>
            <a:ext cx="3383280" cy="1371600"/>
          </a:xfrm>
          <a:prstGeom prst="rect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513892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577"/>
                </a:solidFill>
              </a:rPr>
              <a:t>Faint — #8B95A5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749040"/>
            <a:ext cx="3383280" cy="1371600"/>
          </a:xfrm>
          <a:prstGeom prst="rect">
            <a:avLst/>
          </a:prstGeom>
          <a:solidFill>
            <a:srgbClr val="DD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513892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577"/>
                </a:solidFill>
              </a:rPr>
              <a:t>Line / border — #DDE2EA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577"/>
                </a:solidFill>
              </a:rPr>
              <a:t>Background #F7F8FA · panel #FFFFFF · text #1A2230 · muted #5A6577 · code background #EEF1F6 · link #1D5AA6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yperHessians Light">
      <a:dk1>
        <a:srgbClr val="1A2230"/>
      </a:dk1>
      <a:lt1>
        <a:srgbClr val="F7F8FA"/>
      </a:lt1>
      <a:dk2>
        <a:srgbClr val="5A6577"/>
      </a:dk2>
      <a:lt2>
        <a:srgbClr val="FFFFFF"/>
      </a:lt2>
      <a:accent1>
        <a:srgbClr val="2A78D6"/>
      </a:accent1>
      <a:accent2>
        <a:srgbClr val="EB6834"/>
      </a:accent2>
      <a:accent3>
        <a:srgbClr val="4A3AA7"/>
      </a:accent3>
      <a:accent4>
        <a:srgbClr val="CF3D3C"/>
      </a:accent4>
      <a:accent5>
        <a:srgbClr val="8B95A5"/>
      </a:accent5>
      <a:accent6>
        <a:srgbClr val="DDE2EA"/>
      </a:accent6>
      <a:hlink>
        <a:srgbClr val="1D5AA6"/>
      </a:hlink>
      <a:folHlink>
        <a:srgbClr val="4A3AA7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